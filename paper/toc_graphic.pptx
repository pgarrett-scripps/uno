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943600" cy="320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73152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333333"/>
                </a:solidFill>
                <a:latin typeface="Arial"/>
              </a:rPr>
              <a:t>protein identification from MS1 features alone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731520"/>
            <a:ext cx="0" cy="1700784"/>
          </a:xfrm>
          <a:prstGeom prst="line">
            <a:avLst/>
          </a:prstGeom>
          <a:ln w="1270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74320" y="2432304"/>
            <a:ext cx="1664208" cy="0"/>
          </a:xfrm>
          <a:prstGeom prst="line">
            <a:avLst/>
          </a:prstGeom>
          <a:ln w="1270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561946" y="1790132"/>
            <a:ext cx="29000" cy="29000"/>
          </a:xfrm>
          <a:prstGeom prst="ellipse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49837" y="1355388"/>
            <a:ext cx="22103" cy="22103"/>
          </a:xfrm>
          <a:prstGeom prst="ellipse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06856" y="851418"/>
            <a:ext cx="21707" cy="21707"/>
          </a:xfrm>
          <a:prstGeom prst="ellipse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37499" y="928018"/>
            <a:ext cx="32012" cy="32012"/>
          </a:xfrm>
          <a:prstGeom prst="ellipse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86673" y="978974"/>
            <a:ext cx="31762" cy="31762"/>
          </a:xfrm>
          <a:prstGeom prst="ellipse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86735" y="2247414"/>
            <a:ext cx="26240" cy="26240"/>
          </a:xfrm>
          <a:prstGeom prst="ellipse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31620" y="2286413"/>
            <a:ext cx="35947" cy="35947"/>
          </a:xfrm>
          <a:prstGeom prst="ellipse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639847" y="1238870"/>
            <a:ext cx="21394" cy="21394"/>
          </a:xfrm>
          <a:prstGeom prst="ellipse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14232" y="1266522"/>
            <a:ext cx="24074" cy="24074"/>
          </a:xfrm>
          <a:prstGeom prst="ellipse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00544" y="1676869"/>
            <a:ext cx="42504" cy="42504"/>
          </a:xfrm>
          <a:prstGeom prst="ellipse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93913" y="1627290"/>
            <a:ext cx="37643" cy="37643"/>
          </a:xfrm>
          <a:prstGeom prst="ellipse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27021" y="1110144"/>
            <a:ext cx="21839" cy="21839"/>
          </a:xfrm>
          <a:prstGeom prst="ellipse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77125" y="1267871"/>
            <a:ext cx="38781" cy="38781"/>
          </a:xfrm>
          <a:prstGeom prst="ellipse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17272" y="1247081"/>
            <a:ext cx="36179" cy="36179"/>
          </a:xfrm>
          <a:prstGeom prst="ellipse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387524" y="1158696"/>
            <a:ext cx="41908" cy="41908"/>
          </a:xfrm>
          <a:prstGeom prst="ellipse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26732" y="2131114"/>
            <a:ext cx="35874" cy="35874"/>
          </a:xfrm>
          <a:prstGeom prst="ellipse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4470" y="2290345"/>
            <a:ext cx="40126" cy="40126"/>
          </a:xfrm>
          <a:prstGeom prst="ellipse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70464" y="1956108"/>
            <a:ext cx="23355" cy="23355"/>
          </a:xfrm>
          <a:prstGeom prst="ellipse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77528" y="852758"/>
            <a:ext cx="24286" cy="24286"/>
          </a:xfrm>
          <a:prstGeom prst="ellipse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88793" y="1665726"/>
            <a:ext cx="38447" cy="38447"/>
          </a:xfrm>
          <a:prstGeom prst="ellipse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01644" y="1850712"/>
            <a:ext cx="44132" cy="44132"/>
          </a:xfrm>
          <a:prstGeom prst="ellipse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209486" y="1487280"/>
            <a:ext cx="36421" cy="36421"/>
          </a:xfrm>
          <a:prstGeom prst="ellipse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759827" y="1511398"/>
            <a:ext cx="43158" cy="43158"/>
          </a:xfrm>
          <a:prstGeom prst="ellipse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20394" y="1863130"/>
            <a:ext cx="38335" cy="38335"/>
          </a:xfrm>
          <a:prstGeom prst="ellipse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835961" y="2048371"/>
            <a:ext cx="37868" cy="37868"/>
          </a:xfrm>
          <a:prstGeom prst="ellipse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9104" y="1817889"/>
            <a:ext cx="27923" cy="27923"/>
          </a:xfrm>
          <a:prstGeom prst="ellipse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37913" y="1052458"/>
            <a:ext cx="20735" cy="20735"/>
          </a:xfrm>
          <a:prstGeom prst="ellipse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25294" y="1973160"/>
            <a:ext cx="23328" cy="23328"/>
          </a:xfrm>
          <a:prstGeom prst="ellipse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11495" y="1393413"/>
            <a:ext cx="23664" cy="23664"/>
          </a:xfrm>
          <a:prstGeom prst="ellipse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47775" y="1472699"/>
            <a:ext cx="44021" cy="44021"/>
          </a:xfrm>
          <a:prstGeom prst="ellipse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670769" y="2045648"/>
            <a:ext cx="35189" cy="35189"/>
          </a:xfrm>
          <a:prstGeom prst="ellipse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48179" y="1420738"/>
            <a:ext cx="43817" cy="43817"/>
          </a:xfrm>
          <a:prstGeom prst="ellipse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674612" y="2260951"/>
            <a:ext cx="29958" cy="29958"/>
          </a:xfrm>
          <a:prstGeom prst="ellipse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02825" y="1148873"/>
            <a:ext cx="24256" cy="24256"/>
          </a:xfrm>
          <a:prstGeom prst="ellipse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70340" y="1696419"/>
            <a:ext cx="26517" cy="26517"/>
          </a:xfrm>
          <a:prstGeom prst="ellipse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40023" y="1434592"/>
            <a:ext cx="27324" cy="27324"/>
          </a:xfrm>
          <a:prstGeom prst="ellipse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92000" y="2253690"/>
            <a:ext cx="30246" cy="30246"/>
          </a:xfrm>
          <a:prstGeom prst="ellipse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10409" y="1733883"/>
            <a:ext cx="39058" cy="39058"/>
          </a:xfrm>
          <a:prstGeom prst="ellipse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10094" y="2167194"/>
            <a:ext cx="38666" cy="38666"/>
          </a:xfrm>
          <a:prstGeom prst="ellipse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654142" y="2009601"/>
            <a:ext cx="41512" cy="41512"/>
          </a:xfrm>
          <a:prstGeom prst="ellipse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37643" y="948284"/>
            <a:ext cx="30880" cy="30880"/>
          </a:xfrm>
          <a:prstGeom prst="ellipse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23199" y="889372"/>
            <a:ext cx="37516" cy="37516"/>
          </a:xfrm>
          <a:prstGeom prst="ellipse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80910" y="1314137"/>
            <a:ext cx="25843" cy="25843"/>
          </a:xfrm>
          <a:prstGeom prst="ellipse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37046" y="1026264"/>
            <a:ext cx="21559" cy="21559"/>
          </a:xfrm>
          <a:prstGeom prst="ellipse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87946" y="832396"/>
            <a:ext cx="22900" cy="22900"/>
          </a:xfrm>
          <a:prstGeom prst="ellipse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257519" y="1010823"/>
            <a:ext cx="44101" cy="44101"/>
          </a:xfrm>
          <a:prstGeom prst="ellipse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61257" y="1350578"/>
            <a:ext cx="27036" cy="27036"/>
          </a:xfrm>
          <a:prstGeom prst="ellipse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624333" y="2318525"/>
            <a:ext cx="23486" cy="23486"/>
          </a:xfrm>
          <a:prstGeom prst="ellipse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65436" y="920157"/>
            <a:ext cx="32899" cy="32899"/>
          </a:xfrm>
          <a:prstGeom prst="ellipse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56100" y="1199929"/>
            <a:ext cx="22920" cy="22920"/>
          </a:xfrm>
          <a:prstGeom prst="ellipse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71093" y="818724"/>
            <a:ext cx="42853" cy="42853"/>
          </a:xfrm>
          <a:prstGeom prst="ellipse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126213" y="1006779"/>
            <a:ext cx="46204" cy="46204"/>
          </a:xfrm>
          <a:prstGeom prst="ellipse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371011" y="1598440"/>
            <a:ext cx="35017" cy="35017"/>
          </a:xfrm>
          <a:prstGeom prst="ellipse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634436" y="1850684"/>
            <a:ext cx="46959" cy="46959"/>
          </a:xfrm>
          <a:prstGeom prst="ellipse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890447" y="1047640"/>
            <a:ext cx="27279" cy="27279"/>
          </a:xfrm>
          <a:prstGeom prst="ellipse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135249" y="1980803"/>
            <a:ext cx="41292" cy="41292"/>
          </a:xfrm>
          <a:prstGeom prst="ellipse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71447" y="2036729"/>
            <a:ext cx="29160" cy="29160"/>
          </a:xfrm>
          <a:prstGeom prst="ellipse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618113" y="2019395"/>
            <a:ext cx="47135" cy="47135"/>
          </a:xfrm>
          <a:prstGeom prst="ellipse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449245" y="1131704"/>
            <a:ext cx="42565" cy="42565"/>
          </a:xfrm>
          <a:prstGeom prst="ellipse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70023" y="832032"/>
            <a:ext cx="34316" cy="34316"/>
          </a:xfrm>
          <a:prstGeom prst="ellipse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 flipV="1">
            <a:off x="914400" y="1618488"/>
            <a:ext cx="0" cy="210312"/>
          </a:xfrm>
          <a:prstGeom prst="line">
            <a:avLst/>
          </a:prstGeom>
          <a:ln w="25400">
            <a:solidFill>
              <a:srgbClr val="0072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978408" y="1691640"/>
            <a:ext cx="0" cy="137160"/>
          </a:xfrm>
          <a:prstGeom prst="line">
            <a:avLst/>
          </a:prstGeom>
          <a:ln w="25400">
            <a:solidFill>
              <a:srgbClr val="0072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1042416" y="1751076"/>
            <a:ext cx="0" cy="77724"/>
          </a:xfrm>
          <a:prstGeom prst="line">
            <a:avLst/>
          </a:prstGeom>
          <a:ln w="25400">
            <a:solidFill>
              <a:srgbClr val="0072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795528" y="1554480"/>
            <a:ext cx="365760" cy="365760"/>
          </a:xfrm>
          <a:prstGeom prst="ellipse">
            <a:avLst/>
          </a:prstGeom>
          <a:noFill/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 rot="16200000">
            <a:off x="-18288" y="147218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5A7A8C"/>
                </a:solidFill>
                <a:latin typeface="Arial"/>
              </a:rPr>
              <a:t>m/z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32103" y="2459736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5A7A8C"/>
                </a:solidFill>
                <a:latin typeface="Arial"/>
              </a:rPr>
              <a:t>RT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1440" y="2697480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Arial"/>
              </a:rPr>
              <a:t>one run's MS1 feature map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440" y="2898648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1">
                <a:solidFill>
                  <a:srgbClr val="5A7A8C"/>
                </a:solidFill>
                <a:latin typeface="Arial"/>
              </a:rPr>
              <a:t>mass, RT and intensity only</a:t>
            </a:r>
          </a:p>
        </p:txBody>
      </p:sp>
      <p:cxnSp>
        <p:nvCxnSpPr>
          <p:cNvPr id="73" name="Connector 72"/>
          <p:cNvCxnSpPr/>
          <p:nvPr/>
        </p:nvCxnSpPr>
        <p:spPr>
          <a:xfrm flipV="1">
            <a:off x="1545336" y="996696"/>
            <a:ext cx="0" cy="100584"/>
          </a:xfrm>
          <a:prstGeom prst="line">
            <a:avLst/>
          </a:prstGeom>
          <a:ln w="1524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1613001" y="932688"/>
            <a:ext cx="0" cy="164592"/>
          </a:xfrm>
          <a:prstGeom prst="line">
            <a:avLst/>
          </a:prstGeom>
          <a:ln w="1524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1680667" y="1014984"/>
            <a:ext cx="0" cy="82296"/>
          </a:xfrm>
          <a:prstGeom prst="line">
            <a:avLst/>
          </a:prstGeom>
          <a:ln w="1524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748332" y="969264"/>
            <a:ext cx="0" cy="128016"/>
          </a:xfrm>
          <a:prstGeom prst="line">
            <a:avLst/>
          </a:prstGeom>
          <a:ln w="1524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1453896" y="813816"/>
            <a:ext cx="384048" cy="384048"/>
          </a:xfrm>
          <a:prstGeom prst="ellipse">
            <a:avLst/>
          </a:prstGeom>
          <a:noFill/>
          <a:ln w="158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Connector 77"/>
          <p:cNvCxnSpPr/>
          <p:nvPr/>
        </p:nvCxnSpPr>
        <p:spPr>
          <a:xfrm flipV="1">
            <a:off x="1510138" y="870058"/>
            <a:ext cx="271563" cy="271563"/>
          </a:xfrm>
          <a:prstGeom prst="line">
            <a:avLst/>
          </a:prstGeom>
          <a:ln w="15875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1188720" y="121615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1">
                <a:solidFill>
                  <a:srgbClr val="5A7A8C"/>
                </a:solidFill>
                <a:latin typeface="Arial"/>
              </a:rPr>
              <a:t>no MS/MS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029967" y="457200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1">
                <a:solidFill>
                  <a:srgbClr val="5A7A8C"/>
                </a:solidFill>
                <a:latin typeface="Arial"/>
              </a:rPr>
              <a:t>protein FASTA → digest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029967" y="658368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Arial"/>
              </a:rPr>
              <a:t>in-silico peptide database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2688336" y="896112"/>
            <a:ext cx="566928" cy="685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2734056" y="987552"/>
            <a:ext cx="566928" cy="685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2779776" y="1078992"/>
            <a:ext cx="566928" cy="685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5" name="Connector 84"/>
          <p:cNvCxnSpPr/>
          <p:nvPr/>
        </p:nvCxnSpPr>
        <p:spPr>
          <a:xfrm>
            <a:off x="2990088" y="1207008"/>
            <a:ext cx="0" cy="201168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Rounded Rectangle 85"/>
          <p:cNvSpPr/>
          <p:nvPr/>
        </p:nvSpPr>
        <p:spPr>
          <a:xfrm>
            <a:off x="2212848" y="1426464"/>
            <a:ext cx="1554480" cy="822960"/>
          </a:xfrm>
          <a:prstGeom prst="roundRect">
            <a:avLst/>
          </a:prstGeom>
          <a:solidFill>
            <a:srgbClr val="E4EFF7"/>
          </a:solidFill>
          <a:ln w="2222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212848" y="1499616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0072B2"/>
                </a:solidFill>
                <a:latin typeface="Arial"/>
              </a:rPr>
              <a:t>uno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2128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Arial"/>
              </a:rPr>
              <a:t>match by mass and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Arial"/>
              </a:rPr>
              <a:t>predicted RT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212848" y="2295144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1">
                <a:solidFill>
                  <a:srgbClr val="5A7A8C"/>
                </a:solidFill>
                <a:latin typeface="Arial"/>
              </a:rPr>
              <a:t>MS1 search engine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2011680" y="1828800"/>
            <a:ext cx="164592" cy="0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3803904" y="1828800"/>
            <a:ext cx="274320" cy="0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ounded Rectangle 91"/>
          <p:cNvSpPr/>
          <p:nvPr/>
        </p:nvSpPr>
        <p:spPr>
          <a:xfrm>
            <a:off x="4169663" y="1097280"/>
            <a:ext cx="1554480" cy="246888"/>
          </a:xfrm>
          <a:prstGeom prst="roundRect">
            <a:avLst/>
          </a:prstGeom>
          <a:solidFill>
            <a:srgbClr val="E6F4EF"/>
          </a:solidFill>
          <a:ln w="15875">
            <a:solidFill>
              <a:srgbClr val="009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261103" y="1120139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rial"/>
              </a:rPr>
              <a:t>protein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4169663" y="1481328"/>
            <a:ext cx="1181404" cy="246888"/>
          </a:xfrm>
          <a:prstGeom prst="roundRect">
            <a:avLst/>
          </a:prstGeom>
          <a:solidFill>
            <a:srgbClr val="E6F4EF"/>
          </a:solidFill>
          <a:ln w="15875">
            <a:solidFill>
              <a:srgbClr val="009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261103" y="1504187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rial"/>
              </a:rPr>
              <a:t>protein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4169663" y="1865376"/>
            <a:ext cx="823874" cy="246888"/>
          </a:xfrm>
          <a:prstGeom prst="roundRect">
            <a:avLst/>
          </a:prstGeom>
          <a:solidFill>
            <a:srgbClr val="E6F4EF"/>
          </a:solidFill>
          <a:ln w="15875">
            <a:solidFill>
              <a:srgbClr val="009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261103" y="1888236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rial"/>
              </a:rPr>
              <a:t>protein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718303" y="221284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Arial"/>
              </a:rPr>
              <a:t>⋮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931920" y="2697480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Arial"/>
              </a:rPr>
              <a:t>protein-level identity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931920" y="2898648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1">
                <a:solidFill>
                  <a:srgbClr val="5A7A8C"/>
                </a:solidFill>
                <a:latin typeface="Arial"/>
              </a:rPr>
              <a:t>target/decoy FDR control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